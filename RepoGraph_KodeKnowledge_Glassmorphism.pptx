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7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6812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876" y="9144"/>
            <a:ext cx="91440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08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64496" y="155448"/>
            <a:ext cx="1015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1828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Analytics &amp; Foundational Platforms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0" y="128016"/>
            <a:ext cx="1417320" cy="292608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108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0" y="12801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kern="0" spc="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USE ONLY</a:t>
            </a:r>
            <a:endParaRPr lang="en-US" sz="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713232"/>
            <a:ext cx="73152" cy="7498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6928" y="672084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RepoGraph </a:t>
            </a:r>
            <a:r>
              <a:rPr lang="en-US" sz="3000" b="1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KodeKnowledge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566928" y="10789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Codebase Knowledge Graph — Intelligent Code Intelligence for the FRAME Ecosystem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566928" y="12618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Wealth Management </a:t>
            </a:r>
            <a:r>
              <a:rPr lang="en-US" sz="75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Americas  •  </a:t>
            </a: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2026</a:t>
            </a:r>
            <a:endParaRPr lang="en-US" sz="750" dirty="0"/>
          </a:p>
        </p:txBody>
      </p:sp>
      <p:sp>
        <p:nvSpPr>
          <p:cNvPr id="13" name="Shape 9"/>
          <p:cNvSpPr/>
          <p:nvPr/>
        </p:nvSpPr>
        <p:spPr>
          <a:xfrm>
            <a:off x="457200" y="1709928"/>
            <a:ext cx="1005840" cy="91440"/>
          </a:xfrm>
          <a:prstGeom prst="rect">
            <a:avLst/>
          </a:prstGeom>
          <a:solidFill>
            <a:srgbClr val="FEF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457200" y="157276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1865376"/>
            <a:ext cx="539496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  <a:effectLst>
            <a:outerShdw blurRad="50800" dist="12700" dir="108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594360" y="190195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Azure Codex-compatible agentic plugin that scans a repository with a five-agent AI pipeline, builds a structured knowledge graph as a committable JSON artifact, and opens an interactive React dashboard for visual exploration, semantic queries, and impact tracing — for developers, PMs, and leads.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457200" y="2624328"/>
            <a:ext cx="1737360" cy="91440"/>
          </a:xfrm>
          <a:prstGeom prst="rect">
            <a:avLst/>
          </a:prstGeom>
          <a:solidFill>
            <a:srgbClr val="FEF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457200" y="248716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5-Agent Pipeline</a:t>
            </a:r>
            <a:endParaRPr lang="en-US" sz="11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798064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02920" y="27980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841248" y="2779776"/>
            <a:ext cx="4965192" cy="24688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  <a:effectLst>
            <a:outerShdw blurRad="50800" dist="12700" dir="108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960120" y="2788920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Scanner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960120" y="2907792"/>
            <a:ext cx="4754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 parse + file inventory</a:t>
            </a:r>
            <a:endParaRPr lang="en-US" sz="7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081528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02920" y="30815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41248" y="3063240"/>
            <a:ext cx="4965192" cy="24688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  <a:effectLst>
            <a:outerShdw blurRad="50800" dist="12700" dir="108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960120" y="3072384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Analyzer</a:t>
            </a:r>
            <a:endParaRPr lang="en-US" sz="850" dirty="0"/>
          </a:p>
        </p:txBody>
      </p:sp>
      <p:sp>
        <p:nvSpPr>
          <p:cNvPr id="28" name="Text 22"/>
          <p:cNvSpPr/>
          <p:nvPr/>
        </p:nvSpPr>
        <p:spPr>
          <a:xfrm>
            <a:off x="960120" y="3191256"/>
            <a:ext cx="4754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&amp; call-graph extraction</a:t>
            </a:r>
            <a:endParaRPr lang="en-US" sz="70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364992"/>
            <a:ext cx="219456" cy="21945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02920" y="33649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841248" y="3346704"/>
            <a:ext cx="4965192" cy="24688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  <a:effectLst>
            <a:outerShdw blurRad="50800" dist="12700" dir="108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25"/>
          <p:cNvSpPr/>
          <p:nvPr/>
        </p:nvSpPr>
        <p:spPr>
          <a:xfrm>
            <a:off x="960120" y="335584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Describer</a:t>
            </a:r>
            <a:endParaRPr lang="en-US" sz="850" dirty="0"/>
          </a:p>
        </p:txBody>
      </p:sp>
      <p:sp>
        <p:nvSpPr>
          <p:cNvPr id="33" name="Text 26"/>
          <p:cNvSpPr/>
          <p:nvPr/>
        </p:nvSpPr>
        <p:spPr>
          <a:xfrm>
            <a:off x="960120" y="3474720"/>
            <a:ext cx="4754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plain-English node summaries</a:t>
            </a:r>
            <a:endParaRPr lang="en-US" sz="70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3648456"/>
            <a:ext cx="219456" cy="21945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02920" y="36484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841248" y="3630168"/>
            <a:ext cx="4965192" cy="24688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  <a:effectLst>
            <a:outerShdw blurRad="50800" dist="12700" dir="108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29"/>
          <p:cNvSpPr/>
          <p:nvPr/>
        </p:nvSpPr>
        <p:spPr>
          <a:xfrm>
            <a:off x="960120" y="3639312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</a:t>
            </a:r>
            <a:endParaRPr lang="en-US" sz="850" dirty="0"/>
          </a:p>
        </p:txBody>
      </p:sp>
      <p:sp>
        <p:nvSpPr>
          <p:cNvPr id="38" name="Text 30"/>
          <p:cNvSpPr/>
          <p:nvPr/>
        </p:nvSpPr>
        <p:spPr>
          <a:xfrm>
            <a:off x="960120" y="3758184"/>
            <a:ext cx="4754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layer classification</a:t>
            </a:r>
            <a:endParaRPr lang="en-US" sz="700" dirty="0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" y="3931920"/>
            <a:ext cx="219456" cy="219456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502920" y="39319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41" name="Shape 32"/>
          <p:cNvSpPr/>
          <p:nvPr/>
        </p:nvSpPr>
        <p:spPr>
          <a:xfrm>
            <a:off x="841248" y="3913632"/>
            <a:ext cx="4965192" cy="24688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  <a:effectLst>
            <a:outerShdw blurRad="50800" dist="12700" dir="108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33"/>
          <p:cNvSpPr/>
          <p:nvPr/>
        </p:nvSpPr>
        <p:spPr>
          <a:xfrm>
            <a:off x="960120" y="3922776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Assembler</a:t>
            </a:r>
            <a:endParaRPr lang="en-US" sz="850" dirty="0"/>
          </a:p>
        </p:txBody>
      </p:sp>
      <p:sp>
        <p:nvSpPr>
          <p:cNvPr id="43" name="Text 34"/>
          <p:cNvSpPr/>
          <p:nvPr/>
        </p:nvSpPr>
        <p:spPr>
          <a:xfrm>
            <a:off x="960120" y="4041648"/>
            <a:ext cx="4754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serialization → JSON + dashboard</a:t>
            </a:r>
            <a:endParaRPr lang="en-US" sz="700" dirty="0"/>
          </a:p>
        </p:txBody>
      </p:sp>
      <p:sp>
        <p:nvSpPr>
          <p:cNvPr id="44" name="Shape 35"/>
          <p:cNvSpPr/>
          <p:nvPr/>
        </p:nvSpPr>
        <p:spPr>
          <a:xfrm>
            <a:off x="457200" y="4270247"/>
            <a:ext cx="5394960" cy="713231"/>
          </a:xfrm>
          <a:prstGeom prst="rect">
            <a:avLst/>
          </a:prstGeom>
          <a:solidFill>
            <a:srgbClr val="FFF5F0"/>
          </a:solidFill>
          <a:ln w="6350">
            <a:solidFill>
              <a:srgbClr val="FECACA"/>
            </a:solidFill>
            <a:prstDash val="solid"/>
          </a:ln>
          <a:effectLst>
            <a:outerShdw blurRad="50800" dist="12700" dir="108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5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360" y="4379976"/>
            <a:ext cx="320040" cy="320040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1005840" y="432511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Ecosystem Fit</a:t>
            </a:r>
            <a:endParaRPr lang="en-US" sz="1000" dirty="0"/>
          </a:p>
        </p:txBody>
      </p:sp>
      <p:sp>
        <p:nvSpPr>
          <p:cNvPr id="47" name="Text 37"/>
          <p:cNvSpPr/>
          <p:nvPr/>
        </p:nvSpPr>
        <p:spPr>
          <a:xfrm>
            <a:off x="1005840" y="450799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6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the same codebase graph architecture as FRAME's repograph-plugin (5-agent pipeline). Deploy as: (1) accelerator for Frame_4 microservice onboarding — gateway/core/delivery as navigable graph, (2) living documentation layer replacing stale ADRs, (3) PR-time impact visualizer for LangGraph stages. JSON-as-artifact — generate once on Azure Codex, commit for all devs.</a:t>
            </a:r>
            <a:endParaRPr lang="en-US" sz="650" dirty="0"/>
          </a:p>
        </p:txBody>
      </p:sp>
      <p:sp>
        <p:nvSpPr>
          <p:cNvPr id="48" name="Shape 38"/>
          <p:cNvSpPr/>
          <p:nvPr/>
        </p:nvSpPr>
        <p:spPr>
          <a:xfrm>
            <a:off x="6035040" y="1709928"/>
            <a:ext cx="1737360" cy="91440"/>
          </a:xfrm>
          <a:prstGeom prst="rect">
            <a:avLst/>
          </a:prstGeom>
          <a:solidFill>
            <a:srgbClr val="FEF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39"/>
          <p:cNvSpPr/>
          <p:nvPr/>
        </p:nvSpPr>
        <p:spPr>
          <a:xfrm>
            <a:off x="6035040" y="157276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Capabilities</a:t>
            </a:r>
            <a:endParaRPr lang="en-US" sz="1100" dirty="0"/>
          </a:p>
        </p:txBody>
      </p:sp>
      <p:sp>
        <p:nvSpPr>
          <p:cNvPr id="50" name="Shape 40"/>
          <p:cNvSpPr/>
          <p:nvPr/>
        </p:nvSpPr>
        <p:spPr>
          <a:xfrm>
            <a:off x="6035040" y="1883664"/>
            <a:ext cx="274320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  <a:effectLst>
            <a:outerShdw blurRad="50800" dist="12700" dir="108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1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44768" y="1975104"/>
            <a:ext cx="292608" cy="292608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6510528" y="1938528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Graph</a:t>
            </a:r>
            <a:endParaRPr lang="en-US" sz="850" dirty="0"/>
          </a:p>
        </p:txBody>
      </p:sp>
      <p:sp>
        <p:nvSpPr>
          <p:cNvPr id="53" name="Text 42"/>
          <p:cNvSpPr/>
          <p:nvPr/>
        </p:nvSpPr>
        <p:spPr>
          <a:xfrm>
            <a:off x="6510528" y="21031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6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 files, functions, classes &amp; dependencies as navigable nodes — color-coded by layer (API / Service / Data / UI / Utility).</a:t>
            </a:r>
            <a:endParaRPr lang="en-US" sz="650" dirty="0"/>
          </a:p>
        </p:txBody>
      </p:sp>
      <p:sp>
        <p:nvSpPr>
          <p:cNvPr id="54" name="Shape 43"/>
          <p:cNvSpPr/>
          <p:nvPr/>
        </p:nvSpPr>
        <p:spPr>
          <a:xfrm>
            <a:off x="6035040" y="2514600"/>
            <a:ext cx="274320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  <a:effectLst>
            <a:outerShdw blurRad="50800" dist="12700" dir="108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5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44768" y="2606040"/>
            <a:ext cx="292608" cy="292608"/>
          </a:xfrm>
          <a:prstGeom prst="rect">
            <a:avLst/>
          </a:prstGeom>
        </p:spPr>
      </p:pic>
      <p:sp>
        <p:nvSpPr>
          <p:cNvPr id="56" name="Text 44"/>
          <p:cNvSpPr/>
          <p:nvPr/>
        </p:nvSpPr>
        <p:spPr>
          <a:xfrm>
            <a:off x="6510528" y="2569464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Search</a:t>
            </a:r>
            <a:endParaRPr lang="en-US" sz="850" dirty="0"/>
          </a:p>
        </p:txBody>
      </p:sp>
      <p:sp>
        <p:nvSpPr>
          <p:cNvPr id="57" name="Text 45"/>
          <p:cNvSpPr/>
          <p:nvPr/>
        </p:nvSpPr>
        <p:spPr>
          <a:xfrm>
            <a:off x="6510528" y="273405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6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Natural-language queries across the graph. Ask "which modules handle auth?" — ranked results by meaning, not filename.</a:t>
            </a:r>
            <a:endParaRPr lang="en-US" sz="650" dirty="0"/>
          </a:p>
        </p:txBody>
      </p:sp>
      <p:sp>
        <p:nvSpPr>
          <p:cNvPr id="58" name="Shape 46"/>
          <p:cNvSpPr/>
          <p:nvPr/>
        </p:nvSpPr>
        <p:spPr>
          <a:xfrm>
            <a:off x="6035040" y="3145536"/>
            <a:ext cx="274320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  <a:effectLst>
            <a:outerShdw blurRad="50800" dist="12700" dir="108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9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44768" y="3236976"/>
            <a:ext cx="292608" cy="292608"/>
          </a:xfrm>
          <a:prstGeom prst="rect">
            <a:avLst/>
          </a:prstGeom>
        </p:spPr>
      </p:pic>
      <p:sp>
        <p:nvSpPr>
          <p:cNvPr id="60" name="Text 47"/>
          <p:cNvSpPr/>
          <p:nvPr/>
        </p:nvSpPr>
        <p:spPr>
          <a:xfrm>
            <a:off x="6510528" y="3200400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 Impact Analysis</a:t>
            </a:r>
            <a:endParaRPr lang="en-US" sz="850" dirty="0"/>
          </a:p>
        </p:txBody>
      </p:sp>
      <p:sp>
        <p:nvSpPr>
          <p:cNvPr id="61" name="Text 48"/>
          <p:cNvSpPr/>
          <p:nvPr/>
        </p:nvSpPr>
        <p:spPr>
          <a:xfrm>
            <a:off x="6510528" y="336499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6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 which graph nodes uncommitted changes affect. See ripple effects across the codebase before the PR.</a:t>
            </a:r>
            <a:endParaRPr lang="en-US" sz="650" dirty="0"/>
          </a:p>
        </p:txBody>
      </p:sp>
      <p:sp>
        <p:nvSpPr>
          <p:cNvPr id="62" name="Shape 49"/>
          <p:cNvSpPr/>
          <p:nvPr/>
        </p:nvSpPr>
        <p:spPr>
          <a:xfrm>
            <a:off x="6035040" y="3776472"/>
            <a:ext cx="274320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  <a:effectLst>
            <a:outerShdw blurRad="50800" dist="12700" dir="108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44768" y="3867912"/>
            <a:ext cx="292608" cy="292608"/>
          </a:xfrm>
          <a:prstGeom prst="rect">
            <a:avLst/>
          </a:prstGeom>
        </p:spPr>
      </p:pic>
      <p:sp>
        <p:nvSpPr>
          <p:cNvPr id="64" name="Text 50"/>
          <p:cNvSpPr/>
          <p:nvPr/>
        </p:nvSpPr>
        <p:spPr>
          <a:xfrm>
            <a:off x="6510528" y="3831336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Role-Adaptive Dashboard</a:t>
            </a:r>
            <a:endParaRPr lang="en-US" sz="850" dirty="0"/>
          </a:p>
        </p:txBody>
      </p:sp>
      <p:sp>
        <p:nvSpPr>
          <p:cNvPr id="65" name="Text 51"/>
          <p:cNvSpPr/>
          <p:nvPr/>
        </p:nvSpPr>
        <p:spPr>
          <a:xfrm>
            <a:off x="6510528" y="399592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6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Adjusts depth for junior devs, PMs, or power users. 12 programming patterns explained in context wherever they appear.</a:t>
            </a:r>
            <a:endParaRPr lang="en-US" sz="650" dirty="0"/>
          </a:p>
        </p:txBody>
      </p:sp>
      <p:sp>
        <p:nvSpPr>
          <p:cNvPr id="66" name="Shape 52"/>
          <p:cNvSpPr/>
          <p:nvPr/>
        </p:nvSpPr>
        <p:spPr>
          <a:xfrm>
            <a:off x="6035040" y="4407408"/>
            <a:ext cx="274320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  <a:effectLst>
            <a:outerShdw blurRad="50800" dist="12700" dir="108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7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44768" y="4498848"/>
            <a:ext cx="292608" cy="292608"/>
          </a:xfrm>
          <a:prstGeom prst="rect">
            <a:avLst/>
          </a:prstGeom>
        </p:spPr>
      </p:pic>
      <p:sp>
        <p:nvSpPr>
          <p:cNvPr id="68" name="Text 53"/>
          <p:cNvSpPr/>
          <p:nvPr/>
        </p:nvSpPr>
        <p:spPr>
          <a:xfrm>
            <a:off x="6510528" y="4462272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Extraction</a:t>
            </a:r>
            <a:endParaRPr lang="en-US" sz="850" dirty="0"/>
          </a:p>
        </p:txBody>
      </p:sp>
      <p:sp>
        <p:nvSpPr>
          <p:cNvPr id="69" name="Text 54"/>
          <p:cNvSpPr/>
          <p:nvPr/>
        </p:nvSpPr>
        <p:spPr>
          <a:xfrm>
            <a:off x="6510528" y="462686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6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 code to real business processes — domains, flows, steps — bridging engineering and product/exec communication.</a:t>
            </a:r>
            <a:endParaRPr lang="en-US" sz="650" dirty="0"/>
          </a:p>
        </p:txBody>
      </p:sp>
      <p:sp>
        <p:nvSpPr>
          <p:cNvPr id="70" name="Shape 55"/>
          <p:cNvSpPr/>
          <p:nvPr/>
        </p:nvSpPr>
        <p:spPr>
          <a:xfrm>
            <a:off x="457200" y="4992624"/>
            <a:ext cx="832104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57"/>
          <p:cNvSpPr/>
          <p:nvPr/>
        </p:nvSpPr>
        <p:spPr>
          <a:xfrm>
            <a:off x="7132320" y="501091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</a:t>
            </a:r>
            <a:r>
              <a:rPr lang="en-US" sz="550" b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 </a:t>
            </a:r>
            <a:endParaRPr lang="en-US" sz="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313</Words>
  <Application>Microsoft Macintosh PowerPoint</Application>
  <PresentationFormat>On-screen Show (16:9)</PresentationFormat>
  <Paragraphs>39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RepoGraph KodeKnowledge — FRAME</dc:title>
  <dc:subject>PptxGenJS Presentation</dc:subject>
  <dc:creator>Arpit — Data Analytics &amp; Foundational Platforms</dc:creator>
  <cp:lastModifiedBy>Nagori, Tanisha</cp:lastModifiedBy>
  <cp:revision>2</cp:revision>
  <dcterms:created xsi:type="dcterms:W3CDTF">2026-05-21T00:17:35Z</dcterms:created>
  <dcterms:modified xsi:type="dcterms:W3CDTF">2026-05-21T00:21:11Z</dcterms:modified>
</cp:coreProperties>
</file>